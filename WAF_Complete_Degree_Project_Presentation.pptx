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" cy="5760720"/>
          </a:xfrm>
          <a:prstGeom prst="rect">
            <a:avLst/>
          </a:prstGeom>
          <a:solidFill>
            <a:srgbClr val="14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" y="594360"/>
            <a:ext cx="27432" cy="5440680"/>
          </a:xfrm>
          <a:prstGeom prst="rect">
            <a:avLst/>
          </a:prstGeom>
          <a:solidFill>
            <a:srgbClr val="14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822960"/>
            <a:ext cx="27432" cy="5120640"/>
          </a:xfrm>
          <a:prstGeom prst="rect">
            <a:avLst/>
          </a:prstGeom>
          <a:solidFill>
            <a:srgbClr val="14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40280" y="1051560"/>
            <a:ext cx="27432" cy="4800600"/>
          </a:xfrm>
          <a:prstGeom prst="rect">
            <a:avLst/>
          </a:prstGeom>
          <a:solidFill>
            <a:srgbClr val="14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280160"/>
            <a:ext cx="27432" cy="4480560"/>
          </a:xfrm>
          <a:prstGeom prst="rect">
            <a:avLst/>
          </a:prstGeom>
          <a:solidFill>
            <a:srgbClr val="14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9000" y="1508760"/>
            <a:ext cx="27432" cy="4160520"/>
          </a:xfrm>
          <a:prstGeom prst="rect">
            <a:avLst/>
          </a:prstGeom>
          <a:solidFill>
            <a:srgbClr val="14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595360" y="960120"/>
            <a:ext cx="2468880" cy="2926080"/>
          </a:xfrm>
          <a:prstGeom prst="hexagon">
            <a:avLst/>
          </a:prstGeom>
          <a:solidFill>
            <a:srgbClr val="145891"/>
          </a:solidFill>
          <a:ln>
            <a:solidFill>
              <a:srgbClr val="5B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097280"/>
            <a:ext cx="2377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Orbitron"/>
              </a:defRPr>
            </a:pPr>
            <a:r>
              <a:t>WAF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4360"/>
            <a:ext cx="74980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rbitron"/>
              </a:defRPr>
            </a:pPr>
            <a:r>
              <a:t>SECURE</a:t>
            </a:r>
          </a:p>
          <a:p>
            <a:pPr>
              <a:defRPr sz="3400" b="1">
                <a:solidFill>
                  <a:srgbClr val="FFFFFF"/>
                </a:solidFill>
                <a:latin typeface="Orbitron"/>
              </a:defRPr>
            </a:pPr>
            <a:r>
              <a:t>WEB APPLICATION</a:t>
            </a:r>
          </a:p>
          <a:p>
            <a:pPr>
              <a:defRPr sz="4000" b="1">
                <a:solidFill>
                  <a:srgbClr val="41BEFF"/>
                </a:solidFill>
                <a:latin typeface="Orbitron"/>
              </a:defRPr>
            </a:pPr>
            <a:r>
              <a:t>FIREWALL</a:t>
            </a:r>
          </a:p>
          <a:p>
            <a:pPr>
              <a:defRPr sz="1500">
                <a:solidFill>
                  <a:srgbClr val="B9D2E6"/>
                </a:solidFill>
                <a:latin typeface="Aptos"/>
              </a:defRPr>
            </a:pPr>
            <a:r>
              <a:t>Protecting Web Applications • Securing Digital Futures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7040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AD2FF"/>
                </a:solidFill>
                <a:latin typeface="Orbitron"/>
              </a:defRPr>
            </a:pPr>
            <a:r>
              <a:t>TEAM MEMBERS</a:t>
            </a:r>
          </a:p>
          <a:p>
            <a:pPr>
              <a:spcAft>
                <a:spcPts val="10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Saidu Sorie Kamara    |    2300090411</a:t>
            </a:r>
          </a:p>
          <a:p>
            <a:pPr>
              <a:spcAft>
                <a:spcPts val="10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Sham Wessam Sulaiman    |    2300090405</a:t>
            </a:r>
          </a:p>
          <a:p>
            <a:pPr>
              <a:spcAft>
                <a:spcPts val="10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Dalaa Rafea Hmedan    |    2300090408</a:t>
            </a:r>
          </a:p>
          <a:p>
            <a:pPr>
              <a:spcAft>
                <a:spcPts val="10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Mohammed Alrsheed    |    2300090412</a:t>
            </a:r>
          </a:p>
          <a:p>
            <a:pPr>
              <a:defRPr sz="1500">
                <a:solidFill>
                  <a:srgbClr val="AABED2"/>
                </a:solidFill>
                <a:latin typeface="Aptos"/>
              </a:defRPr>
            </a:pPr>
            <a:r>
              <a:t>Degree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ED2"/>
                </a:solidFill>
                <a:latin typeface="Aptos"/>
              </a:defRPr>
            </a:pPr>
            <a:r>
              <a:t>Secure Web Application Firewall (WAF)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Aptos Display"/>
              </a:defRPr>
            </a:pPr>
            <a:r>
              <a:t>Secure Web Application Firewall (WAF)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Degree Project Presentation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Protecting Web Applications from Application-Layer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Rockwell Extra Bold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Introduction &amp; Background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Problem Statement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Project Objectives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Existing System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Proposed System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System Architecture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Modules &amp; Security Features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Technology Stack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Implementation Methodology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Testing &amp; Evaluation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Expected Results &amp; Impact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Advantages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Challenges &amp; Limitations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Future Scope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Conclusion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References</a:t>
            </a:r>
          </a:p>
          <a:p>
            <a:pPr>
              <a:spcAft>
                <a:spcPts val="11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Stenci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Web applications are critical targets for modern cyber attacks.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A Web Application Firewall (WAF) sits between clients and the web application.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It inspects HTTP/HTTPS requests and blocks suspicious application-layer traffic.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This project focuses on SQL Injection, Cross-Site Scripting (XSS), and abusive/DDoS-like traffic.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Bahnschrift SemiCondensed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Traditional network firewalls do not fully understand application-layer attacks.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Malicious requests can exploit vulnerable inputs and application logic.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High-volume abusive traffic can degrade availability.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Security teams also need useful logs and alerts for investigation.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Therefore, a configurable and effective WAF is required to filter, block, rate-limit, and record threats.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Copperplate Gothic Bold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Develop HTTP/HTTPS traffic filtering.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Implement rule-based SQL Injection and XSS protection.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Build dynamic rate limiting to mitigate abusive and DDoS-like traffic.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Provide comprehensive security logging and alerting.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Evaluate detection effectiveness, false positives, latency, and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0EEFF"/>
                </a:solidFill>
                <a:latin typeface="Agency FB"/>
              </a:defRPr>
            </a:pPr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Conventional firewalls primarily provide network-level protection.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Application-layer attacks may pass through without content-aware inspection.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Static controls may not adapt well to changing request patterns.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Limited security logging can make incident analysis difficult.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Commercial WAFs can be costly or complex for some deployments.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ED2"/>
                </a:solidFill>
                <a:latin typeface="Aptos"/>
              </a:defRPr>
            </a:pPr>
            <a:r>
              <a:t>Secure Web Application Firewall (WAF)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Orbitron"/>
              </a:defRPr>
            </a:pPr>
            <a:r>
              <a:t>Proposed System — Our WAF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A lightweight, modular Web Application Firewall positioned before the web server.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Inspects requests using configurable security rules and pattern matching.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Detects suspicious SQL Injection and XSS payloads.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Applies dynamic rate limits to abnormal request volumes.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Logs requests, blocks, alerts, and security events for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Client → Internet → WAF → Web Server → Database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The WAF is the security enforcement point before application traffic reaches the server.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Legitimate requests are forwarded; malicious requests are blocked or challenged.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Logs and alerts are sent to a monitoring/dashboard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74920"/>
            <a:ext cx="1417320" cy="594360"/>
          </a:xfrm>
          <a:prstGeom prst="roundRect">
            <a:avLst/>
          </a:prstGeom>
          <a:solidFill>
            <a:srgbClr val="E1E8F0"/>
          </a:solidFill>
          <a:ln>
            <a:solidFill>
              <a:srgbClr val="50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t>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5074920"/>
            <a:ext cx="1417320" cy="594360"/>
          </a:xfrm>
          <a:prstGeom prst="roundRect">
            <a:avLst/>
          </a:prstGeom>
          <a:solidFill>
            <a:srgbClr val="E1E8F0"/>
          </a:solidFill>
          <a:ln>
            <a:solidFill>
              <a:srgbClr val="50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t>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5074920"/>
            <a:ext cx="1417320" cy="594360"/>
          </a:xfrm>
          <a:prstGeom prst="roundRect">
            <a:avLst/>
          </a:prstGeom>
          <a:solidFill>
            <a:srgbClr val="23699B"/>
          </a:solidFill>
          <a:ln>
            <a:solidFill>
              <a:srgbClr val="50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t>WAF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5074920"/>
            <a:ext cx="1417320" cy="594360"/>
          </a:xfrm>
          <a:prstGeom prst="roundRect">
            <a:avLst/>
          </a:prstGeom>
          <a:solidFill>
            <a:srgbClr val="E1E8F0"/>
          </a:solidFill>
          <a:ln>
            <a:solidFill>
              <a:srgbClr val="50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t>Web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5074920"/>
            <a:ext cx="1417320" cy="594360"/>
          </a:xfrm>
          <a:prstGeom prst="roundRect">
            <a:avLst/>
          </a:prstGeom>
          <a:solidFill>
            <a:srgbClr val="E1E8F0"/>
          </a:solidFill>
          <a:ln>
            <a:solidFill>
              <a:srgbClr val="50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ptos"/>
              </a:defRPr>
            </a:pPr>
            <a:r>
              <a:t>Database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5212080"/>
            <a:ext cx="457200" cy="320040"/>
          </a:xfrm>
          <a:prstGeom prst="rightArrow">
            <a:avLst/>
          </a:prstGeom>
          <a:solidFill>
            <a:srgbClr val="4B7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251960" y="5212080"/>
            <a:ext cx="457200" cy="320040"/>
          </a:xfrm>
          <a:prstGeom prst="rightArrow">
            <a:avLst/>
          </a:prstGeom>
          <a:solidFill>
            <a:srgbClr val="4B7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355080" y="5212080"/>
            <a:ext cx="457200" cy="320040"/>
          </a:xfrm>
          <a:prstGeom prst="rightArrow">
            <a:avLst/>
          </a:prstGeom>
          <a:solidFill>
            <a:srgbClr val="4B7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549640" y="5212080"/>
            <a:ext cx="457200" cy="320040"/>
          </a:xfrm>
          <a:prstGeom prst="rightArrow">
            <a:avLst/>
          </a:prstGeom>
          <a:solidFill>
            <a:srgbClr val="4B7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Stencil"/>
              </a:defRPr>
            </a:pPr>
            <a:r>
              <a:t>Modules &amp; 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Traffic Filtering — inspects and controls HTTP/HTTPS traffic.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SQL Injection Protection — identifies suspicious SQL syntax and payload patterns.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XSS Protection — detects potentially executable script payloads.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Dynamic Rate Limiting — limits excessive requests from abusive sources.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Logging &amp; Monitoring — records events, rules triggered, source information, and actions.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Admin Dashboard — provides visibility into traffic, alerts, and statistics.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234440"/>
            <a:ext cx="2286000" cy="3566160"/>
          </a:xfrm>
          <a:prstGeom prst="roundRect">
            <a:avLst/>
          </a:prstGeom>
          <a:solidFill>
            <a:srgbClr val="E1EBF5"/>
          </a:solidFill>
          <a:ln>
            <a:solidFill>
              <a:srgbClr val="4B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45082"/>
                </a:solidFill>
                <a:latin typeface="Orbitron"/>
              </a:defRPr>
            </a:pPr>
            <a:r>
              <a:t>WAF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FILTER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DETECT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BLOCK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Rockwel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Backend: Python with Flask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Rule Engine: Custom rules + regular expressions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Database: MySQL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Frontend/Dashboard: HTML, CSS, JavaScript, Bootstrap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Logging/Monitoring: ELK-style logging and dashboard integration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Deployment: Docker and Nginx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Operating System: Linux/Ubuntu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234440"/>
            <a:ext cx="2286000" cy="3566160"/>
          </a:xfrm>
          <a:prstGeom prst="roundRect">
            <a:avLst/>
          </a:prstGeom>
          <a:solidFill>
            <a:srgbClr val="E1EBF5"/>
          </a:solidFill>
          <a:ln>
            <a:solidFill>
              <a:srgbClr val="4B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45082"/>
                </a:solidFill>
                <a:latin typeface="Orbitron"/>
              </a:defRPr>
            </a:pPr>
            <a:r>
              <a:t>WAF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PYTHON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FLASK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MYSQL</a:t>
            </a:r>
          </a:p>
          <a:p>
            <a:pPr algn="ctr">
              <a:defRPr sz="1300">
                <a:solidFill>
                  <a:srgbClr val="2D3C4B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Bahnschrift SemiBold"/>
              </a:defRPr>
            </a:pPr>
            <a:r>
              <a:t>Implementation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1. Capture and normalize incoming HTTP/HTTPS requests.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2. Validate request structure and apply security rules.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3. Detect SQL Injection and XSS patterns.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4. Apply rate-limit logic to repeated or high-frequency requests.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5. Block malicious traffic and forward legitimate requests.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6. Store security events and generate alerts.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7. Review results and refine rules to reduce false positives.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Impact"/>
              </a:defRPr>
            </a:pPr>
            <a:r>
              <a:t>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Build a controlled test environment with a protected web application.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Generate legitimate requests as baseline traffic.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Simulate SQL Injection and XSS payloads.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Generate repeated/high-volume requests to evaluate rate limiting.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Measure detection rate, false positives, response latency, throughput, and blocked requests.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Compare system behavior before and after WAF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Orbitron"/>
              </a:defRPr>
            </a:pPr>
            <a:r>
              <a:t>Expected Results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Successful detection and blocking of targeted SQL Injection and XSS attempts.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Reduced impact from excessive or abusive request rates.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Improved visibility through centralized security logs and alerts.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Better application-layer protection without changing the protected application's core logic.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An extensible foundation for additional rules and security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Brush Script MT"/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Protects against common application-layer attacks.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Modular and customizable security rules.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Real-time monitoring and alerting.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Rate limiting improves service availability.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Can be deployed in front of existing web applications.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Suitable as an academic prototype that can be extended toward enterprise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Orbitron"/>
              </a:defRPr>
            </a:pPr>
            <a:r>
              <a:t>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Rules require continuous maintenance as attack techniques evolve.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Poorly tuned rules can create false positives.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Deep request inspection may add processing latency.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High traffic volumes increase resource requirements.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Signature-based detection may not detect unknown or highly obfuscated attacks.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Brush Script MT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Machine-learning-assisted anomaly detection.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Threat-intelligence integration and automated rule updates.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Advanced bot and API protection.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Cloud-native deployment with auto-scaling.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SIEM integration for enterprise monitoring.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Behavioral analysis for zero-day and evolving attacks.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The proposed WAF provides an application-layer security barrier for web applications.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It combines filtering, attack-specific rules, dynamic rate limiting, logging, and monitoring.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The design directly addresses SQL Injection, XSS, and abusive traffic scenarios.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Testing and continuous rule refinement are essential for reliable protection.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0EEFF"/>
                </a:solidFill>
                <a:latin typeface="Rockwell Extra Bold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OWASP — Web Application Security guidance and OWASP Top 10.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Research literature on Web Application Firewalls.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Research literature on SQL Injection and XSS detection.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Research literature on DDoS mitigation and rate limiting.</a:t>
            </a:r>
          </a:p>
          <a:p>
            <a:pPr>
              <a:spcAft>
                <a:spcPts val="1100"/>
              </a:spcAft>
              <a:defRPr sz="2100">
                <a:solidFill>
                  <a:srgbClr val="E6F0FA"/>
                </a:solidFill>
                <a:latin typeface="Aptos"/>
              </a:defRPr>
            </a:pPr>
            <a:r>
              <a:t>• Project literature survey and selected peer-reviewed research papers.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ED2"/>
                </a:solidFill>
                <a:latin typeface="Aptos"/>
              </a:defRPr>
            </a:pPr>
            <a:r>
              <a:t>Secure Web Application Firewall (WAF)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3D68"/>
                </a:solidFill>
                <a:latin typeface="Stencil"/>
              </a:defRPr>
            </a:pPr>
            <a: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Secure Web Application Firewall (WAF)</a:t>
            </a:r>
          </a:p>
          <a:p>
            <a:pPr>
              <a:spcAft>
                <a:spcPts val="11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Degree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Secure Web Application Firewall (WAF)  •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